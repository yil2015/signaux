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e9a677c-8dfe-c743-d432-0d9839b14a5a}">
          <p14:sldIdLst>
            <p14:sldId id="256"/>
          </p14:sldIdLst>
        </p14:section>
        <p14:section name="Cadre" id="{50727bc0-1a1d-5b4a-fffb-ac2d6365b3bf}">
          <p14:sldIdLst>
            <p14:sldId id="257"/>
          </p14:sldIdLst>
        </p14:section>
        <p14:section name="Données" id="{21e11d1d-3c26-64de-1ee2-21d805584fa9}">
          <p14:sldIdLst>
            <p14:sldId id="258"/>
          </p14:sldIdLst>
        </p14:section>
        <p14:section name="Validation" id="{b2b156cf-0f56-6b36-a8a6-2f943303f9bc}">
          <p14:sldIdLst>
            <p14:sldId id="259"/>
          </p14:sldIdLst>
        </p14:section>
        <p14:section name="Prochaines étapes" id="{03a0dfff-2760-7292-86f9-8a1f602f43e6}">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secondes. Notre projet : lire automatiquement l'index d'un compteur d'eau sur des photos prises par une webcam, puis afficher la consommation sur un site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secondes. Objectif : lire l'index du compteur d'eau sur chaque photo et calculer la consommation par différence entre deux photos. Le site affiche la moyenne, le minimum et le pic. Limites : un seul compteur, à rouleaux mécaniques ; les photos viennent d'une webcam USB, le Pico avec caméra est un bonus. Ce qu'on demande à l'utilisateur : une webcam fixe, de face, et un éclairage qui ne fait pas de reflet sur la vitre.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secondes. On a déjà 49 photos du compteur d'eau, prises par une webcam USB avec notre script Python, une par minute, en deux séances. L'index passe de 447,89 à 448,06 mètres cubes. On a déjà des conditions différentes : lumière normale, faible lumière et beaucoup de reflets de lampe sur la vitre. Une image est noire, c'est une capture ratée. Les chiffres noirs sont les mètres cubes, les rouges les litres ; le dernier rouleau est souvent entre deux chiffres, c'est la vraie difficulté.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secondes. On met de côté un tiers des photos uniquement pour le test final. On veut d'abord monter à au moins 150 photos. Trois mesures : le pourcentage d'index entièrement justes, le pourcentage de chiffres justes rouleau par rouleau, et l'erreur moyenne sur la consommation en litres. On donnera les résultats par condition et on analysera les erreurs, en particulier les rouleaux à moitié tournés et les reflets.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secondes. Prochaines étapes : compléter le jeu de données, prétraiter les images, reconnaître les chiffres des rouleaux, stocker dans Supabase et afficher sur le site Flask avec la moyenne, le minimum et le pic, puis valider. En bonus, le Pico W avec une caméra Arducam pourra remplacer la webcam.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4754880" cy="14630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2926080"/>
            <a:ext cx="4754880" cy="914400"/>
          </a:xfrm>
          <a:prstGeom prst="rect">
            <a:avLst/>
          </a:prstGeom>
          <a:noFill/>
          <a:ln/>
        </p:spPr>
        <p:txBody>
          <a:bodyPr wrap="square" rtlCol="0"/>
          <a:lstStyle>
            <a:lvl1pPr algn="l" indent="0" marL="0">
              <a:buNone/>
              <a:defRPr lang="en-US" sz="1700" dirty="0">
                <a:solidFill>
                  <a:schemeClr val="bg2"/>
                </a:solidFill>
              </a:defRPr>
            </a:lvl1pPr>
          </a:lstStyle>
          <a:p>
            <a:pPr algn="l"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Goutte" descr="preencoded.png">    </p:cNvPr>
          <p:cNvPicPr>
            <a:picLocks noChangeAspect="1"/>
          </p:cNvPicPr>
          <p:nvPr/>
        </p:nvPicPr>
        <p:blipFill>
          <a:blip r:embed="rId1"/>
          <a:stretch>
            <a:fillRect/>
          </a:stretch>
        </p:blipFill>
        <p:spPr>
          <a:xfrm>
            <a:off x="548640" y="640080"/>
            <a:ext cx="548640" cy="548640"/>
          </a:xfrm>
          <a:prstGeom prst="rect">
            <a:avLst/>
          </a:prstGeom>
        </p:spPr>
      </p:pic>
      <p:sp>
        <p:nvSpPr>
          <p:cNvPr id="3" name="Text 0"/>
          <p:cNvSpPr/>
          <p:nvPr>
            <p:ph idx="100" type="title" hasCustomPrompt="1"/>
          </p:nvPr>
        </p:nvSpPr>
        <p:spPr>
          <a:xfrm>
            <a:off x="548640" y="1325880"/>
            <a:ext cx="4754880" cy="1463040"/>
          </a:xfrm>
          <a:prstGeom prst="rect">
            <a:avLst/>
          </a:prstGeom>
          <a:noFill/>
          <a:ln/>
        </p:spPr>
        <p:txBody>
          <a:bodyPr wrap="square" rtlCol="0" anchor="b"/>
          <a:lstStyle/>
          <a:p>
            <a:pPr algn="l" indent="0" marL="0">
              <a:buNone/>
            </a:pPr>
            <a:r>
              <a:rPr lang="en-US" sz="3400" b="1" dirty="0">
                <a:solidFill>
                  <a:schemeClr val="bg1"/>
                </a:solidFill>
              </a:rPr>
              <a:t>Lire un compteur d'eau sur des photos</a:t>
            </a:r>
            <a:endParaRPr lang="en-US" sz="3400" dirty="0"/>
          </a:p>
        </p:txBody>
      </p:sp>
      <p:sp>
        <p:nvSpPr>
          <p:cNvPr id="4" name="Text 0"/>
          <p:cNvSpPr/>
          <p:nvPr>
            <p:ph idx="101" type="body" hasCustomPrompt="1"/>
          </p:nvPr>
        </p:nvSpPr>
        <p:spPr>
          <a:xfrm>
            <a:off x="548640" y="2926080"/>
            <a:ext cx="4754880" cy="914400"/>
          </a:xfrm>
          <a:prstGeom prst="rect">
            <a:avLst/>
          </a:prstGeom>
          <a:noFill/>
          <a:ln/>
        </p:spPr>
        <p:txBody>
          <a:bodyPr wrap="square" rtlCol="0" anchor="t"/>
          <a:lstStyle/>
          <a:p>
            <a:pPr algn="l" indent="0" marL="0">
              <a:buNone/>
            </a:pPr>
            <a:r>
              <a:rPr lang="en-US" sz="1700" dirty="0">
                <a:solidFill>
                  <a:schemeClr val="bg2"/>
                </a:solidFill>
              </a:rPr>
              <a:t>Suivi de consommation — état des lieux</a:t>
            </a:r>
            <a:endParaRPr lang="en-US" sz="1700" dirty="0"/>
          </a:p>
        </p:txBody>
      </p:sp>
      <p:pic>
        <p:nvPicPr>
          <p:cNvPr id="5" name="Photo du compteur" descr="/tmp/claude-0/-home-claude/9c7444a6-dd70-50fc-92d1-167a7f50b20e/scratchpad/deck/ex_normal.jpg">    </p:cNvPr>
          <p:cNvPicPr>
            <a:picLocks noChangeAspect="1"/>
          </p:cNvPicPr>
          <p:nvPr/>
        </p:nvPicPr>
        <p:blipFill>
          <a:blip r:embed="rId2"/>
          <a:stretch>
            <a:fillRect/>
          </a:stretch>
        </p:blipFill>
        <p:spPr>
          <a:xfrm>
            <a:off x="5669280" y="822960"/>
            <a:ext cx="3017520" cy="2263140"/>
          </a:xfrm>
          <a:prstGeom prst="rect">
            <a:avLst/>
          </a:prstGeom>
        </p:spPr>
      </p:pic>
      <p:sp>
        <p:nvSpPr>
          <p:cNvPr id="6" name="Légende photo titre"/>
          <p:cNvSpPr txBox="1"/>
          <p:nvPr/>
        </p:nvSpPr>
        <p:spPr>
          <a:xfrm>
            <a:off x="5669280" y="3154680"/>
            <a:ext cx="3017520" cy="320040"/>
          </a:xfrm>
          <a:prstGeom prst="rect">
            <a:avLst/>
          </a:prstGeom>
          <a:noFill/>
          <a:ln/>
        </p:spPr>
        <p:txBody>
          <a:bodyPr wrap="square" rtlCol="0" anchor="ctr"/>
          <a:lstStyle/>
          <a:p>
            <a:pPr indent="0" marL="0">
              <a:buNone/>
            </a:pPr>
            <a:r>
              <a:rPr lang="en-US" sz="1100" i="1" dirty="0">
                <a:solidFill>
                  <a:schemeClr val="bg2"/>
                </a:solidFill>
              </a:rPr>
              <a:t>Notre compteur, photographié par la webcam</a:t>
            </a:r>
            <a:endParaRPr lang="en-US" sz="1100" dirty="0"/>
          </a:p>
        </p:txBody>
      </p:sp>
      <p:sp>
        <p:nvSpPr>
          <p:cNvPr id="7" name="Noms du groupe"/>
          <p:cNvSpPr txBox="1"/>
          <p:nvPr/>
        </p:nvSpPr>
        <p:spPr>
          <a:xfrm>
            <a:off x="548640" y="4114800"/>
            <a:ext cx="4754880" cy="365760"/>
          </a:xfrm>
          <a:prstGeom prst="rect">
            <a:avLst/>
          </a:prstGeom>
          <a:noFill/>
          <a:ln/>
        </p:spPr>
        <p:txBody>
          <a:bodyPr wrap="square" rtlCol="0" anchor="ctr"/>
          <a:lstStyle/>
          <a:p>
            <a:pPr indent="0" marL="0">
              <a:buNone/>
            </a:pPr>
            <a:r>
              <a:rPr lang="en-US" sz="1400" dirty="0">
                <a:solidFill>
                  <a:schemeClr val="bg2"/>
                </a:solidFill>
              </a:rPr>
              <a:t>Groupe :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3000" b="1" dirty="0">
                <a:solidFill>
                  <a:schemeClr val="tx2"/>
                </a:solidFill>
              </a:rPr>
              <a:t>Le cadre du projet</a:t>
            </a:r>
            <a:endParaRPr lang="en-US" sz="3000" dirty="0"/>
          </a:p>
        </p:txBody>
      </p:sp>
      <p:sp>
        <p:nvSpPr>
          <p:cNvPr id="3" name="Objectif carte"/>
          <p:cNvSpPr/>
          <p:nvPr/>
        </p:nvSpPr>
        <p:spPr>
          <a:xfrm>
            <a:off x="457200" y="1188720"/>
            <a:ext cx="2606040" cy="3429000"/>
          </a:xfrm>
          <a:prstGeom prst="roundRect">
            <a:avLst>
              <a:gd name="adj" fmla="val 4211"/>
            </a:avLst>
          </a:prstGeom>
          <a:solidFill>
            <a:schemeClr val="bg2"/>
          </a:solidFill>
          <a:ln w="12700">
            <a:solidFill>
              <a:schemeClr val="bg2"/>
            </a:solidFill>
            <a:prstDash val="solid"/>
          </a:ln>
        </p:spPr>
      </p:sp>
      <p:sp>
        <p:nvSpPr>
          <p:cNvPr id="4" name="Objectif cercle"/>
          <p:cNvSpPr/>
          <p:nvPr/>
        </p:nvSpPr>
        <p:spPr>
          <a:xfrm>
            <a:off x="685800" y="1371600"/>
            <a:ext cx="594360" cy="594360"/>
          </a:xfrm>
          <a:prstGeom prst="ellipse">
            <a:avLst/>
          </a:prstGeom>
          <a:solidFill>
            <a:srgbClr val="2E86AB"/>
          </a:solidFill>
          <a:ln w="12700">
            <a:solidFill>
              <a:srgbClr val="2E86AB"/>
            </a:solidFill>
            <a:prstDash val="solid"/>
          </a:ln>
        </p:spPr>
      </p:sp>
      <p:pic>
        <p:nvPicPr>
          <p:cNvPr id="5" name="Objectif icône" descr="preencoded.png">    </p:cNvPr>
          <p:cNvPicPr>
            <a:picLocks noChangeAspect="1"/>
          </p:cNvPicPr>
          <p:nvPr/>
        </p:nvPicPr>
        <p:blipFill>
          <a:blip r:embed="rId1"/>
          <a:stretch>
            <a:fillRect/>
          </a:stretch>
        </p:blipFill>
        <p:spPr>
          <a:xfrm>
            <a:off x="834390" y="1520190"/>
            <a:ext cx="297180" cy="297180"/>
          </a:xfrm>
          <a:prstGeom prst="rect">
            <a:avLst/>
          </a:prstGeom>
        </p:spPr>
      </p:pic>
      <p:sp>
        <p:nvSpPr>
          <p:cNvPr id="6" name="Objectif titre"/>
          <p:cNvSpPr txBox="1"/>
          <p:nvPr/>
        </p:nvSpPr>
        <p:spPr>
          <a:xfrm>
            <a:off x="1371600" y="1371600"/>
            <a:ext cx="1600200" cy="594360"/>
          </a:xfrm>
          <a:prstGeom prst="rect">
            <a:avLst/>
          </a:prstGeom>
          <a:noFill/>
          <a:ln/>
        </p:spPr>
        <p:txBody>
          <a:bodyPr wrap="square" lIns="0" tIns="0" rIns="0" bIns="0" rtlCol="0" anchor="ctr"/>
          <a:lstStyle/>
          <a:p>
            <a:pPr indent="0" marL="0">
              <a:buNone/>
            </a:pPr>
            <a:r>
              <a:rPr lang="en-US" sz="1700" b="1" dirty="0">
                <a:solidFill>
                  <a:schemeClr val="tx2"/>
                </a:solidFill>
              </a:rPr>
              <a:t>Objectif</a:t>
            </a:r>
            <a:endParaRPr lang="en-US" sz="1700" dirty="0"/>
          </a:p>
        </p:txBody>
      </p:sp>
      <p:sp>
        <p:nvSpPr>
          <p:cNvPr id="7" name="Objectif texte"/>
          <p:cNvSpPr txBox="1"/>
          <p:nvPr/>
        </p:nvSpPr>
        <p:spPr>
          <a:xfrm>
            <a:off x="640080" y="2148840"/>
            <a:ext cx="2286000" cy="228600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Lire l'index (m³) sur chaque photo</a:t>
            </a:r>
            <a:endParaRPr lang="en-US" sz="1400" dirty="0"/>
          </a:p>
          <a:p>
            <a:pPr marL="342900" indent="-342900">
              <a:spcAft>
                <a:spcPts val="800"/>
              </a:spcAft>
              <a:buSzPct val="100000"/>
              <a:buChar char="•"/>
            </a:pPr>
            <a:r>
              <a:rPr lang="en-US" sz="1400" dirty="0">
                <a:solidFill>
                  <a:schemeClr val="tx1"/>
                </a:solidFill>
              </a:rPr>
              <a:t>Consommation = index − index précédent</a:t>
            </a:r>
            <a:endParaRPr lang="en-US" sz="1400" dirty="0"/>
          </a:p>
          <a:p>
            <a:pPr marL="342900" indent="-342900">
              <a:spcAft>
                <a:spcPts val="800"/>
              </a:spcAft>
              <a:buSzPct val="100000"/>
              <a:buChar char="•"/>
            </a:pPr>
            <a:r>
              <a:rPr lang="en-US" sz="1400" dirty="0">
                <a:solidFill>
                  <a:schemeClr val="tx1"/>
                </a:solidFill>
              </a:rPr>
              <a:t>Site Flask : graphique avec moyenne, minimum et pic</a:t>
            </a:r>
            <a:endParaRPr lang="en-US" sz="1400" dirty="0"/>
          </a:p>
        </p:txBody>
      </p:sp>
      <p:sp>
        <p:nvSpPr>
          <p:cNvPr id="8" name="Limites carte"/>
          <p:cNvSpPr/>
          <p:nvPr/>
        </p:nvSpPr>
        <p:spPr>
          <a:xfrm>
            <a:off x="3246120" y="1188720"/>
            <a:ext cx="2606040" cy="3429000"/>
          </a:xfrm>
          <a:prstGeom prst="roundRect">
            <a:avLst>
              <a:gd name="adj" fmla="val 4211"/>
            </a:avLst>
          </a:prstGeom>
          <a:solidFill>
            <a:schemeClr val="bg2"/>
          </a:solidFill>
          <a:ln w="12700">
            <a:solidFill>
              <a:schemeClr val="bg2"/>
            </a:solidFill>
            <a:prstDash val="solid"/>
          </a:ln>
        </p:spPr>
      </p:sp>
      <p:sp>
        <p:nvSpPr>
          <p:cNvPr id="9" name="Limites cercle"/>
          <p:cNvSpPr/>
          <p:nvPr/>
        </p:nvSpPr>
        <p:spPr>
          <a:xfrm>
            <a:off x="3474720" y="1371600"/>
            <a:ext cx="594360" cy="594360"/>
          </a:xfrm>
          <a:prstGeom prst="ellipse">
            <a:avLst/>
          </a:prstGeom>
          <a:solidFill>
            <a:srgbClr val="C0392B"/>
          </a:solidFill>
          <a:ln w="12700">
            <a:solidFill>
              <a:srgbClr val="C0392B"/>
            </a:solidFill>
            <a:prstDash val="solid"/>
          </a:ln>
        </p:spPr>
      </p:sp>
      <p:pic>
        <p:nvPicPr>
          <p:cNvPr id="10" name="Limites icône" descr="preencoded.png">    </p:cNvPr>
          <p:cNvPicPr>
            <a:picLocks noChangeAspect="1"/>
          </p:cNvPicPr>
          <p:nvPr/>
        </p:nvPicPr>
        <p:blipFill>
          <a:blip r:embed="rId2"/>
          <a:stretch>
            <a:fillRect/>
          </a:stretch>
        </p:blipFill>
        <p:spPr>
          <a:xfrm>
            <a:off x="3623310" y="1520190"/>
            <a:ext cx="297180" cy="297180"/>
          </a:xfrm>
          <a:prstGeom prst="rect">
            <a:avLst/>
          </a:prstGeom>
        </p:spPr>
      </p:pic>
      <p:sp>
        <p:nvSpPr>
          <p:cNvPr id="11" name="Limites titre"/>
          <p:cNvSpPr txBox="1"/>
          <p:nvPr/>
        </p:nvSpPr>
        <p:spPr>
          <a:xfrm>
            <a:off x="4160520" y="1371600"/>
            <a:ext cx="1600200" cy="594360"/>
          </a:xfrm>
          <a:prstGeom prst="rect">
            <a:avLst/>
          </a:prstGeom>
          <a:noFill/>
          <a:ln/>
        </p:spPr>
        <p:txBody>
          <a:bodyPr wrap="square" lIns="0" tIns="0" rIns="0" bIns="0" rtlCol="0" anchor="ctr"/>
          <a:lstStyle/>
          <a:p>
            <a:pPr indent="0" marL="0">
              <a:buNone/>
            </a:pPr>
            <a:r>
              <a:rPr lang="en-US" sz="1700" b="1" dirty="0">
                <a:solidFill>
                  <a:schemeClr val="tx2"/>
                </a:solidFill>
              </a:rPr>
              <a:t>Limites</a:t>
            </a:r>
            <a:endParaRPr lang="en-US" sz="1700" dirty="0"/>
          </a:p>
        </p:txBody>
      </p:sp>
      <p:sp>
        <p:nvSpPr>
          <p:cNvPr id="12" name="Limites texte"/>
          <p:cNvSpPr txBox="1"/>
          <p:nvPr/>
        </p:nvSpPr>
        <p:spPr>
          <a:xfrm>
            <a:off x="3429000" y="2148840"/>
            <a:ext cx="2286000" cy="228600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Un seul compteur : compteur d'eau à rouleaux</a:t>
            </a:r>
            <a:endParaRPr lang="en-US" sz="1400" dirty="0"/>
          </a:p>
          <a:p>
            <a:pPr marL="342900" indent="-342900">
              <a:spcAft>
                <a:spcPts val="800"/>
              </a:spcAft>
              <a:buSzPct val="100000"/>
              <a:buChar char="•"/>
            </a:pPr>
            <a:r>
              <a:rPr lang="en-US" sz="1400" dirty="0">
                <a:solidFill>
                  <a:schemeClr val="tx1"/>
                </a:solidFill>
              </a:rPr>
              <a:t>On lit les 5 chiffres noirs (m³) et les rouges (litres)</a:t>
            </a:r>
            <a:endParaRPr lang="en-US" sz="1400" dirty="0"/>
          </a:p>
          <a:p>
            <a:pPr marL="342900" indent="-342900">
              <a:spcAft>
                <a:spcPts val="800"/>
              </a:spcAft>
              <a:buSzPct val="100000"/>
              <a:buChar char="•"/>
            </a:pPr>
            <a:r>
              <a:rPr lang="en-US" sz="1400" dirty="0">
                <a:solidFill>
                  <a:schemeClr val="tx1"/>
                </a:solidFill>
              </a:rPr>
              <a:t>Pas de Pico pour l'instant : webcam USB (Pico en bonus)</a:t>
            </a:r>
            <a:endParaRPr lang="en-US" sz="1400" dirty="0"/>
          </a:p>
        </p:txBody>
      </p:sp>
      <p:sp>
        <p:nvSpPr>
          <p:cNvPr id="13" name="Contraintes utilisateur carte"/>
          <p:cNvSpPr/>
          <p:nvPr/>
        </p:nvSpPr>
        <p:spPr>
          <a:xfrm>
            <a:off x="6035040" y="1188720"/>
            <a:ext cx="2606040" cy="3429000"/>
          </a:xfrm>
          <a:prstGeom prst="roundRect">
            <a:avLst>
              <a:gd name="adj" fmla="val 4211"/>
            </a:avLst>
          </a:prstGeom>
          <a:solidFill>
            <a:schemeClr val="bg2"/>
          </a:solidFill>
          <a:ln w="12700">
            <a:solidFill>
              <a:schemeClr val="bg2"/>
            </a:solidFill>
            <a:prstDash val="solid"/>
          </a:ln>
        </p:spPr>
      </p:sp>
      <p:sp>
        <p:nvSpPr>
          <p:cNvPr id="14" name="Contraintes utilisateur cercle"/>
          <p:cNvSpPr/>
          <p:nvPr/>
        </p:nvSpPr>
        <p:spPr>
          <a:xfrm>
            <a:off x="6263640" y="1371600"/>
            <a:ext cx="594360" cy="594360"/>
          </a:xfrm>
          <a:prstGeom prst="ellipse">
            <a:avLst/>
          </a:prstGeom>
          <a:solidFill>
            <a:srgbClr val="3C8D5A"/>
          </a:solidFill>
          <a:ln w="12700">
            <a:solidFill>
              <a:srgbClr val="3C8D5A"/>
            </a:solidFill>
            <a:prstDash val="solid"/>
          </a:ln>
        </p:spPr>
      </p:sp>
      <p:pic>
        <p:nvPicPr>
          <p:cNvPr id="15" name="Contraintes utilisateur icône" descr="preencoded.png">    </p:cNvPr>
          <p:cNvPicPr>
            <a:picLocks noChangeAspect="1"/>
          </p:cNvPicPr>
          <p:nvPr/>
        </p:nvPicPr>
        <p:blipFill>
          <a:blip r:embed="rId3"/>
          <a:stretch>
            <a:fillRect/>
          </a:stretch>
        </p:blipFill>
        <p:spPr>
          <a:xfrm>
            <a:off x="6412230" y="1520190"/>
            <a:ext cx="297180" cy="297180"/>
          </a:xfrm>
          <a:prstGeom prst="rect">
            <a:avLst/>
          </a:prstGeom>
        </p:spPr>
      </p:pic>
      <p:sp>
        <p:nvSpPr>
          <p:cNvPr id="16" name="Contraintes utilisateur titre"/>
          <p:cNvSpPr txBox="1"/>
          <p:nvPr/>
        </p:nvSpPr>
        <p:spPr>
          <a:xfrm>
            <a:off x="6949440" y="1371600"/>
            <a:ext cx="1600200" cy="594360"/>
          </a:xfrm>
          <a:prstGeom prst="rect">
            <a:avLst/>
          </a:prstGeom>
          <a:noFill/>
          <a:ln/>
        </p:spPr>
        <p:txBody>
          <a:bodyPr wrap="square" lIns="0" tIns="0" rIns="0" bIns="0" rtlCol="0" anchor="ctr"/>
          <a:lstStyle/>
          <a:p>
            <a:pPr indent="0" marL="0">
              <a:buNone/>
            </a:pPr>
            <a:r>
              <a:rPr lang="en-US" sz="1700" b="1" dirty="0">
                <a:solidFill>
                  <a:schemeClr val="tx2"/>
                </a:solidFill>
              </a:rPr>
              <a:t>Contraintes utilisateur</a:t>
            </a:r>
            <a:endParaRPr lang="en-US" sz="1700" dirty="0"/>
          </a:p>
        </p:txBody>
      </p:sp>
      <p:sp>
        <p:nvSpPr>
          <p:cNvPr id="17" name="Contraintes utilisateur texte"/>
          <p:cNvSpPr txBox="1"/>
          <p:nvPr/>
        </p:nvSpPr>
        <p:spPr>
          <a:xfrm>
            <a:off x="6217920" y="2148840"/>
            <a:ext cx="2286000" cy="228600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Webcam fixe, face au compteur</a:t>
            </a:r>
            <a:endParaRPr lang="en-US" sz="1400" dirty="0"/>
          </a:p>
          <a:p>
            <a:pPr marL="342900" indent="-342900">
              <a:spcAft>
                <a:spcPts val="800"/>
              </a:spcAft>
              <a:buSzPct val="100000"/>
              <a:buChar char="•"/>
            </a:pPr>
            <a:r>
              <a:rPr lang="en-US" sz="1400" dirty="0">
                <a:solidFill>
                  <a:schemeClr val="tx1"/>
                </a:solidFill>
              </a:rPr>
              <a:t>Éclairage sans reflet direct sur la vitre</a:t>
            </a:r>
            <a:endParaRPr lang="en-US" sz="1400" dirty="0"/>
          </a:p>
          <a:p>
            <a:pPr marL="342900" indent="-342900">
              <a:spcAft>
                <a:spcPts val="800"/>
              </a:spcAft>
              <a:buSzPct val="100000"/>
              <a:buChar char="•"/>
            </a:pPr>
            <a:r>
              <a:rPr lang="en-US" sz="1400" dirty="0">
                <a:solidFill>
                  <a:schemeClr val="tx1"/>
                </a:solidFill>
              </a:rPr>
              <a:t>Une photo à intervalle régulier</a:t>
            </a:r>
            <a:endParaRPr lang="en-US" sz="1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3000" b="1" dirty="0">
                <a:solidFill>
                  <a:schemeClr val="tx2"/>
                </a:solidFill>
              </a:rPr>
              <a:t>Notre jeu de données</a:t>
            </a:r>
            <a:endParaRPr lang="en-US" sz="3000" dirty="0"/>
          </a:p>
        </p:txBody>
      </p:sp>
      <p:sp>
        <p:nvSpPr>
          <p:cNvPr id="3" name="Nombre de photos"/>
          <p:cNvSpPr txBox="1"/>
          <p:nvPr/>
        </p:nvSpPr>
        <p:spPr>
          <a:xfrm>
            <a:off x="457200" y="1097280"/>
            <a:ext cx="1463040" cy="868680"/>
          </a:xfrm>
          <a:prstGeom prst="rect">
            <a:avLst/>
          </a:prstGeom>
          <a:noFill/>
          <a:ln/>
        </p:spPr>
        <p:txBody>
          <a:bodyPr wrap="square" lIns="0" tIns="0" rIns="0" bIns="0" rtlCol="0" anchor="ctr"/>
          <a:lstStyle/>
          <a:p>
            <a:pPr indent="0" marL="0">
              <a:buNone/>
            </a:pPr>
            <a:r>
              <a:rPr lang="en-US" sz="6000" b="1" dirty="0">
                <a:solidFill>
                  <a:schemeClr val="accent1"/>
                </a:solidFill>
              </a:rPr>
              <a:t>49</a:t>
            </a:r>
            <a:endParaRPr lang="en-US" sz="6000" dirty="0"/>
          </a:p>
        </p:txBody>
      </p:sp>
      <p:sp>
        <p:nvSpPr>
          <p:cNvPr id="4" name="Légende photos"/>
          <p:cNvSpPr txBox="1"/>
          <p:nvPr/>
        </p:nvSpPr>
        <p:spPr>
          <a:xfrm>
            <a:off x="1920240" y="1188720"/>
            <a:ext cx="2011680" cy="731520"/>
          </a:xfrm>
          <a:prstGeom prst="rect">
            <a:avLst/>
          </a:prstGeom>
          <a:noFill/>
          <a:ln/>
        </p:spPr>
        <p:txBody>
          <a:bodyPr wrap="square" lIns="0" tIns="0" rIns="0" bIns="0" rtlCol="0" anchor="ctr"/>
          <a:lstStyle/>
          <a:p>
            <a:pPr indent="0" marL="0">
              <a:buNone/>
            </a:pPr>
            <a:r>
              <a:rPr lang="en-US" sz="1600" b="1" dirty="0">
                <a:solidFill>
                  <a:schemeClr val="tx2"/>
                </a:solidFill>
              </a:rPr>
              <a:t>photos</a:t>
            </a:r>
            <a:endParaRPr lang="en-US" sz="1600" dirty="0"/>
          </a:p>
          <a:p>
            <a:pPr indent="0" marL="0">
              <a:buNone/>
            </a:pPr>
            <a:r>
              <a:rPr lang="en-US" sz="1600" dirty="0">
                <a:solidFill>
                  <a:schemeClr val="tx2"/>
                </a:solidFill>
              </a:rPr>
              <a:t>48 exploitables</a:t>
            </a:r>
            <a:endParaRPr lang="en-US" sz="1600" dirty="0"/>
          </a:p>
        </p:txBody>
      </p:sp>
      <p:sp>
        <p:nvSpPr>
          <p:cNvPr id="5" name="Protocole"/>
          <p:cNvSpPr txBox="1"/>
          <p:nvPr/>
        </p:nvSpPr>
        <p:spPr>
          <a:xfrm>
            <a:off x="457200" y="3520440"/>
            <a:ext cx="3566160" cy="1188720"/>
          </a:xfrm>
          <a:prstGeom prst="rect">
            <a:avLst/>
          </a:prstGeom>
          <a:noFill/>
          <a:ln/>
        </p:spPr>
        <p:txBody>
          <a:bodyPr wrap="square" rtlCol="0" anchor="t"/>
          <a:lstStyle/>
          <a:p>
            <a:pPr marL="342900" indent="-342900">
              <a:spcAft>
                <a:spcPts val="300"/>
              </a:spcAft>
              <a:buSzPct val="100000"/>
              <a:buChar char="•"/>
            </a:pPr>
            <a:r>
              <a:rPr lang="en-US" sz="1200" dirty="0">
                <a:solidFill>
                  <a:schemeClr val="tx1"/>
                </a:solidFill>
              </a:rPr>
              <a:t>Webcam USB 640×480, notre script Python : 1 photo par minute, 2 séances</a:t>
            </a:r>
            <a:endParaRPr lang="en-US" sz="1200" dirty="0"/>
          </a:p>
          <a:p>
            <a:pPr marL="342900" indent="-342900">
              <a:spcAft>
                <a:spcPts val="300"/>
              </a:spcAft>
              <a:buSzPct val="100000"/>
              <a:buChar char="•"/>
            </a:pPr>
            <a:r>
              <a:rPr lang="en-US" sz="1200" dirty="0">
                <a:solidFill>
                  <a:schemeClr val="tx1"/>
                </a:solidFill>
              </a:rPr>
              <a:t>Index de 447,89 à 448,06 m³ (≈ 170 litres)</a:t>
            </a:r>
            <a:endParaRPr lang="en-US" sz="1200" dirty="0"/>
          </a:p>
          <a:p>
            <a:pPr marL="342900" indent="-342900">
              <a:spcAft>
                <a:spcPts val="300"/>
              </a:spcAft>
              <a:buSzPct val="100000"/>
              <a:buChar char="•"/>
            </a:pPr>
            <a:r>
              <a:rPr lang="en-US" sz="1200" dirty="0">
                <a:solidFill>
                  <a:schemeClr val="tx1"/>
                </a:solidFill>
              </a:rPr>
              <a:t>Vrai index noté à la main pour chaque photo</a:t>
            </a:r>
            <a:endParaRPr lang="en-US" sz="1200" dirty="0"/>
          </a:p>
        </p:txBody>
      </p:sp>
      <p:graphicFrame>
        <p:nvGraphicFramePr>
          <p:cNvPr id="4" name="Photos par condition"/>
          <p:cNvGraphicFramePr>
            <a:graphicFrameLocks noGrp="1"/>
          </p:cNvGraphicFramePr>
          <p:nvPr>
            <p:extLst>
              <p:ext uri="{D42A27DB-BD31-4B8C-83A1-F6EECF244321}">
                <p14:modId xmlns:p14="http://schemas.microsoft.com/office/powerpoint/2010/main" val="1579011935"/>
              </p:ext>
            </p:extLst>
          </p:nvPr>
        </p:nvGraphicFramePr>
        <p:xfrm>
          <a:off x="457200" y="2103120"/>
          <a:ext cx="3566160" cy="914400"/>
        </p:xfrm>
        <a:graphic>
          <a:graphicData uri="http://schemas.openxmlformats.org/drawingml/2006/table">
            <a:tbl>
              <a:tblPr/>
              <a:tblGrid>
                <a:gridCol w="2743200"/>
                <a:gridCol w="822960"/>
              </a:tblGrid>
              <a:tr h="26517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marL="91440" marR="91440" marT="45720" marB="45720">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1F3B5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Photos</a:t>
                      </a:r>
                      <a:endParaRPr lang="en-US" sz="1200" dirty="0">
                        <a:latin typeface="Calibri" charset="0"/>
                        <a:ea typeface="Calibri" charset="0"/>
                        <a:cs typeface="Calibri" charset="0"/>
                      </a:endParaRPr>
                    </a:p>
                  </a:txBody>
                  <a:tcPr marL="91440" marR="91440" marT="45720" marB="45720">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1F3B57"/>
                    </a:solidFill>
                  </a:tcPr>
                </a:tc>
              </a:tr>
              <a:tr h="265176">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Lumière normale</a:t>
                      </a:r>
                      <a:endParaRPr lang="en-US" sz="1200" dirty="0">
                        <a:latin typeface="Calibri" charset="0"/>
                        <a:ea typeface="Calibri" charset="0"/>
                        <a:cs typeface="Calibri" charset="0"/>
                      </a:endParaRPr>
                    </a:p>
                  </a:txBody>
                  <a:tcPr marL="91440" marR="91440" marT="45720" marB="45720">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2F6F9"/>
                    </a:solidFill>
                  </a:tcPr>
                </a:tc>
                <a:tc>
                  <a:txBody>
                    <a:bodyPr/>
                    <a:lstStyle/>
                    <a:p>
                      <a:pPr algn="ctr" indent="0" marL="0">
                        <a:buNone/>
                      </a:pPr>
                      <a:r>
                        <a:rPr lang="en-US" sz="1200" b="1" dirty="0">
                          <a:solidFill>
                            <a:srgbClr val="1B2430"/>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2F6F9"/>
                    </a:solidFill>
                  </a:tcPr>
                </a:tc>
              </a:tr>
              <a:tr h="265176">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Faible lumière</a:t>
                      </a:r>
                      <a:endParaRPr lang="en-US" sz="1200" dirty="0">
                        <a:latin typeface="Calibri" charset="0"/>
                        <a:ea typeface="Calibri" charset="0"/>
                        <a:cs typeface="Calibri" charset="0"/>
                      </a:endParaRPr>
                    </a:p>
                  </a:txBody>
                  <a:tcPr marL="91440" marR="91440" marT="45720" marB="45720">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43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265176">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Reflet de lampe sur la vitre</a:t>
                      </a:r>
                      <a:endParaRPr lang="en-US" sz="1200" dirty="0">
                        <a:latin typeface="Calibri" charset="0"/>
                        <a:ea typeface="Calibri" charset="0"/>
                        <a:cs typeface="Calibri" charset="0"/>
                      </a:endParaRPr>
                    </a:p>
                  </a:txBody>
                  <a:tcPr marL="91440" marR="91440" marT="45720" marB="45720">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2F6F9"/>
                    </a:solidFill>
                  </a:tcPr>
                </a:tc>
                <a:tc>
                  <a:txBody>
                    <a:bodyPr/>
                    <a:lstStyle/>
                    <a:p>
                      <a:pPr algn="ctr" indent="0" marL="0">
                        <a:buNone/>
                      </a:pPr>
                      <a:r>
                        <a:rPr lang="en-US" sz="1200" b="1" dirty="0">
                          <a:solidFill>
                            <a:srgbClr val="1B2430"/>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2F6F9"/>
                    </a:solidFill>
                  </a:tcPr>
                </a:tc>
              </a:tr>
              <a:tr h="265176">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Image noire (capture ratée)</a:t>
                      </a:r>
                      <a:endParaRPr lang="en-US" sz="1200" dirty="0">
                        <a:latin typeface="Calibri" charset="0"/>
                        <a:ea typeface="Calibri" charset="0"/>
                        <a:cs typeface="Calibri" charset="0"/>
                      </a:endParaRPr>
                    </a:p>
                  </a:txBody>
                  <a:tcPr marL="91440" marR="91440" marT="45720" marB="45720">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4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bl>
          </a:graphicData>
        </a:graphic>
      </p:graphicFrame>
      <p:pic>
        <p:nvPicPr>
          <p:cNvPr id="7" name="Lumière normale exemple" descr="/tmp/claude-0/-home-claude/9c7444a6-dd70-50fc-92d1-167a7f50b20e/scratchpad/deck/ex_normal.jpg">    </p:cNvPr>
          <p:cNvPicPr>
            <a:picLocks noChangeAspect="1"/>
          </p:cNvPicPr>
          <p:nvPr/>
        </p:nvPicPr>
        <p:blipFill>
          <a:blip r:embed="rId1"/>
          <a:stretch>
            <a:fillRect/>
          </a:stretch>
        </p:blipFill>
        <p:spPr>
          <a:xfrm>
            <a:off x="4343400" y="1143000"/>
            <a:ext cx="1389888" cy="1042416"/>
          </a:xfrm>
          <a:prstGeom prst="rect">
            <a:avLst/>
          </a:prstGeom>
        </p:spPr>
      </p:pic>
      <p:sp>
        <p:nvSpPr>
          <p:cNvPr id="8" name="Lumière normale légende"/>
          <p:cNvSpPr txBox="1"/>
          <p:nvPr/>
        </p:nvSpPr>
        <p:spPr>
          <a:xfrm>
            <a:off x="4343400" y="2212848"/>
            <a:ext cx="1389888" cy="274320"/>
          </a:xfrm>
          <a:prstGeom prst="rect">
            <a:avLst/>
          </a:prstGeom>
          <a:noFill/>
          <a:ln/>
        </p:spPr>
        <p:txBody>
          <a:bodyPr wrap="square" lIns="0" tIns="0" rIns="0" bIns="0" rtlCol="0" anchor="ctr"/>
          <a:lstStyle/>
          <a:p>
            <a:pPr algn="ctr" indent="0" marL="0">
              <a:buNone/>
            </a:pPr>
            <a:r>
              <a:rPr lang="en-US" sz="1000" dirty="0">
                <a:solidFill>
                  <a:schemeClr val="accent3"/>
                </a:solidFill>
              </a:rPr>
              <a:t>Lumière normale</a:t>
            </a:r>
            <a:endParaRPr lang="en-US" sz="1000" dirty="0"/>
          </a:p>
        </p:txBody>
      </p:sp>
      <p:pic>
        <p:nvPicPr>
          <p:cNvPr id="9" name="Faible lumière exemple" descr="/tmp/claude-0/-home-claude/9c7444a6-dd70-50fc-92d1-167a7f50b20e/scratchpad/deck/ex_sombre.jpg">    </p:cNvPr>
          <p:cNvPicPr>
            <a:picLocks noChangeAspect="1"/>
          </p:cNvPicPr>
          <p:nvPr/>
        </p:nvPicPr>
        <p:blipFill>
          <a:blip r:embed="rId2"/>
          <a:stretch>
            <a:fillRect/>
          </a:stretch>
        </p:blipFill>
        <p:spPr>
          <a:xfrm>
            <a:off x="5824728" y="1143000"/>
            <a:ext cx="1389888" cy="1042416"/>
          </a:xfrm>
          <a:prstGeom prst="rect">
            <a:avLst/>
          </a:prstGeom>
        </p:spPr>
      </p:pic>
      <p:sp>
        <p:nvSpPr>
          <p:cNvPr id="10" name="Faible lumière légende"/>
          <p:cNvSpPr txBox="1"/>
          <p:nvPr/>
        </p:nvSpPr>
        <p:spPr>
          <a:xfrm>
            <a:off x="5824728" y="2212848"/>
            <a:ext cx="1389888" cy="274320"/>
          </a:xfrm>
          <a:prstGeom prst="rect">
            <a:avLst/>
          </a:prstGeom>
          <a:noFill/>
          <a:ln/>
        </p:spPr>
        <p:txBody>
          <a:bodyPr wrap="square" lIns="0" tIns="0" rIns="0" bIns="0" rtlCol="0" anchor="ctr"/>
          <a:lstStyle/>
          <a:p>
            <a:pPr algn="ctr" indent="0" marL="0">
              <a:buNone/>
            </a:pPr>
            <a:r>
              <a:rPr lang="en-US" sz="1000" dirty="0">
                <a:solidFill>
                  <a:schemeClr val="accent3"/>
                </a:solidFill>
              </a:rPr>
              <a:t>Faible lumière</a:t>
            </a:r>
            <a:endParaRPr lang="en-US" sz="1000" dirty="0"/>
          </a:p>
        </p:txBody>
      </p:sp>
      <p:pic>
        <p:nvPicPr>
          <p:cNvPr id="11" name="Reflet sur la vitre exemple" descr="/tmp/claude-0/-home-claude/9c7444a6-dd70-50fc-92d1-167a7f50b20e/scratchpad/deck/ex_reflet.jpg">    </p:cNvPr>
          <p:cNvPicPr>
            <a:picLocks noChangeAspect="1"/>
          </p:cNvPicPr>
          <p:nvPr/>
        </p:nvPicPr>
        <p:blipFill>
          <a:blip r:embed="rId3"/>
          <a:stretch>
            <a:fillRect/>
          </a:stretch>
        </p:blipFill>
        <p:spPr>
          <a:xfrm>
            <a:off x="7306056" y="1143000"/>
            <a:ext cx="1389888" cy="1042416"/>
          </a:xfrm>
          <a:prstGeom prst="rect">
            <a:avLst/>
          </a:prstGeom>
        </p:spPr>
      </p:pic>
      <p:sp>
        <p:nvSpPr>
          <p:cNvPr id="12" name="Reflet sur la vitre légende"/>
          <p:cNvSpPr txBox="1"/>
          <p:nvPr/>
        </p:nvSpPr>
        <p:spPr>
          <a:xfrm>
            <a:off x="7306056" y="2212848"/>
            <a:ext cx="1389888" cy="274320"/>
          </a:xfrm>
          <a:prstGeom prst="rect">
            <a:avLst/>
          </a:prstGeom>
          <a:noFill/>
          <a:ln/>
        </p:spPr>
        <p:txBody>
          <a:bodyPr wrap="square" lIns="0" tIns="0" rIns="0" bIns="0" rtlCol="0" anchor="ctr"/>
          <a:lstStyle/>
          <a:p>
            <a:pPr algn="ctr" indent="0" marL="0">
              <a:buNone/>
            </a:pPr>
            <a:r>
              <a:rPr lang="en-US" sz="1000" dirty="0">
                <a:solidFill>
                  <a:schemeClr val="accent3"/>
                </a:solidFill>
              </a:rPr>
              <a:t>Reflet sur la vitre</a:t>
            </a:r>
            <a:endParaRPr lang="en-US" sz="1000" dirty="0"/>
          </a:p>
        </p:txBody>
      </p:sp>
      <p:pic>
        <p:nvPicPr>
          <p:cNvPr id="13" name="Zoom rouleaux" descr="/tmp/claude-0/-home-claude/9c7444a6-dd70-50fc-92d1-167a7f50b20e/scratchpad/deck/zoom_rouleaux.jpg">    </p:cNvPr>
          <p:cNvPicPr>
            <a:picLocks noChangeAspect="1"/>
          </p:cNvPicPr>
          <p:nvPr/>
        </p:nvPicPr>
        <p:blipFill>
          <a:blip r:embed="rId4"/>
          <a:stretch>
            <a:fillRect/>
          </a:stretch>
        </p:blipFill>
        <p:spPr>
          <a:xfrm>
            <a:off x="4343400" y="2697480"/>
            <a:ext cx="4352544" cy="813816"/>
          </a:xfrm>
          <a:prstGeom prst="rect">
            <a:avLst/>
          </a:prstGeom>
        </p:spPr>
      </p:pic>
      <p:sp>
        <p:nvSpPr>
          <p:cNvPr id="14" name="Explication rouleaux"/>
          <p:cNvSpPr txBox="1"/>
          <p:nvPr/>
        </p:nvSpPr>
        <p:spPr>
          <a:xfrm>
            <a:off x="4343400" y="3566160"/>
            <a:ext cx="4352544" cy="685800"/>
          </a:xfrm>
          <a:prstGeom prst="rect">
            <a:avLst/>
          </a:prstGeom>
          <a:noFill/>
          <a:ln/>
        </p:spPr>
        <p:txBody>
          <a:bodyPr wrap="square" lIns="0" tIns="0" rIns="0" bIns="0" rtlCol="0" anchor="t"/>
          <a:lstStyle/>
          <a:p>
            <a:pPr indent="0" marL="0">
              <a:buNone/>
            </a:pPr>
            <a:r>
              <a:rPr lang="en-US" sz="1200" b="1" dirty="0">
                <a:solidFill>
                  <a:schemeClr val="tx1"/>
                </a:solidFill>
              </a:rPr>
              <a:t>Noir = m³, rouge = litres. </a:t>
            </a:r>
            <a:pPr indent="0" marL="0">
              <a:buNone/>
            </a:pPr>
            <a:r>
              <a:rPr lang="en-US" sz="1200" dirty="0">
                <a:solidFill>
                  <a:schemeClr val="tx1"/>
                </a:solidFill>
              </a:rPr>
              <a:t>Le dernier rouleau est souvent entre deux chiffres (ici entre 7 et 8) : c'est la difficulté principale.</a:t>
            </a:r>
            <a:endParaRPr lang="en-US" sz="12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3000" b="1" dirty="0">
                <a:solidFill>
                  <a:schemeClr val="tx2"/>
                </a:solidFill>
              </a:rPr>
              <a:t>Comment on va valider</a:t>
            </a:r>
            <a:endParaRPr lang="en-US" sz="3000" dirty="0"/>
          </a:p>
        </p:txBody>
      </p:sp>
      <p:sp>
        <p:nvSpPr>
          <p:cNvPr id="3" name="Barre réglage"/>
          <p:cNvSpPr/>
          <p:nvPr/>
        </p:nvSpPr>
        <p:spPr>
          <a:xfrm>
            <a:off x="457200" y="1188720"/>
            <a:ext cx="5120640" cy="685800"/>
          </a:xfrm>
          <a:prstGeom prst="roundRect">
            <a:avLst>
              <a:gd name="adj" fmla="val 10667"/>
            </a:avLst>
          </a:prstGeom>
          <a:solidFill>
            <a:srgbClr val="2E86AB"/>
          </a:solidFill>
          <a:ln w="12700">
            <a:solidFill>
              <a:srgbClr val="2E86AB"/>
            </a:solidFill>
            <a:prstDash val="solid"/>
          </a:ln>
        </p:spPr>
      </p:sp>
      <p:sp>
        <p:nvSpPr>
          <p:cNvPr id="4" name="Texte réglage"/>
          <p:cNvSpPr txBox="1"/>
          <p:nvPr/>
        </p:nvSpPr>
        <p:spPr>
          <a:xfrm>
            <a:off x="548640" y="1188720"/>
            <a:ext cx="4937760" cy="685800"/>
          </a:xfrm>
          <a:prstGeom prst="rect">
            <a:avLst/>
          </a:prstGeom>
          <a:noFill/>
          <a:ln/>
        </p:spPr>
        <p:txBody>
          <a:bodyPr wrap="square" rtlCol="0" anchor="ctr"/>
          <a:lstStyle/>
          <a:p>
            <a:pPr indent="0" marL="0">
              <a:buNone/>
            </a:pPr>
            <a:r>
              <a:rPr lang="en-US" sz="1500" b="1" dirty="0">
                <a:solidFill>
                  <a:srgbClr val="FFFFFF"/>
                </a:solidFill>
              </a:rPr>
              <a:t>2/3 des photos : réglage du programme</a:t>
            </a:r>
            <a:endParaRPr lang="en-US" sz="1500" dirty="0"/>
          </a:p>
        </p:txBody>
      </p:sp>
      <p:sp>
        <p:nvSpPr>
          <p:cNvPr id="5" name="Barre test"/>
          <p:cNvSpPr/>
          <p:nvPr/>
        </p:nvSpPr>
        <p:spPr>
          <a:xfrm>
            <a:off x="5669280" y="1188720"/>
            <a:ext cx="3017520" cy="685800"/>
          </a:xfrm>
          <a:prstGeom prst="roundRect">
            <a:avLst>
              <a:gd name="adj" fmla="val 10667"/>
            </a:avLst>
          </a:prstGeom>
          <a:solidFill>
            <a:srgbClr val="E09F3E"/>
          </a:solidFill>
          <a:ln w="12700">
            <a:solidFill>
              <a:srgbClr val="E09F3E"/>
            </a:solidFill>
            <a:prstDash val="solid"/>
          </a:ln>
        </p:spPr>
      </p:sp>
      <p:sp>
        <p:nvSpPr>
          <p:cNvPr id="6" name="Texte test"/>
          <p:cNvSpPr txBox="1"/>
          <p:nvPr/>
        </p:nvSpPr>
        <p:spPr>
          <a:xfrm>
            <a:off x="5760720" y="1188720"/>
            <a:ext cx="2834640" cy="685800"/>
          </a:xfrm>
          <a:prstGeom prst="rect">
            <a:avLst/>
          </a:prstGeom>
          <a:noFill/>
          <a:ln/>
        </p:spPr>
        <p:txBody>
          <a:bodyPr wrap="square" rtlCol="0" anchor="ctr"/>
          <a:lstStyle/>
          <a:p>
            <a:pPr indent="0" marL="0">
              <a:buNone/>
            </a:pPr>
            <a:r>
              <a:rPr lang="en-US" sz="1500" b="1" dirty="0">
                <a:solidFill>
                  <a:srgbClr val="1B2430"/>
                </a:solidFill>
              </a:rPr>
              <a:t>1/3 : test final</a:t>
            </a:r>
            <a:endParaRPr lang="en-US" sz="1500" dirty="0"/>
          </a:p>
        </p:txBody>
      </p:sp>
      <p:sp>
        <p:nvSpPr>
          <p:cNvPr id="7" name="Note test"/>
          <p:cNvSpPr txBox="1"/>
          <p:nvPr/>
        </p:nvSpPr>
        <p:spPr>
          <a:xfrm>
            <a:off x="457200" y="1920240"/>
            <a:ext cx="8229600" cy="365760"/>
          </a:xfrm>
          <a:prstGeom prst="rect">
            <a:avLst/>
          </a:prstGeom>
          <a:noFill/>
          <a:ln/>
        </p:spPr>
        <p:txBody>
          <a:bodyPr wrap="square" rtlCol="0" anchor="ctr"/>
          <a:lstStyle/>
          <a:p>
            <a:pPr indent="0" marL="0">
              <a:buNone/>
            </a:pPr>
            <a:r>
              <a:rPr lang="en-US" sz="1200" i="1" dirty="0">
                <a:solidFill>
                  <a:schemeClr val="accent3"/>
                </a:solidFill>
              </a:rPr>
              <a:t>Les photos de test ne servent jamais au réglage. Objectif : passer de 49 à au moins 150 photos.</a:t>
            </a:r>
            <a:endParaRPr lang="en-US" sz="1200" dirty="0"/>
          </a:p>
        </p:txBody>
      </p:sp>
      <p:sp>
        <p:nvSpPr>
          <p:cNvPr id="8" name="Index justes carte"/>
          <p:cNvSpPr/>
          <p:nvPr/>
        </p:nvSpPr>
        <p:spPr>
          <a:xfrm>
            <a:off x="457200" y="2423160"/>
            <a:ext cx="2606040" cy="1371600"/>
          </a:xfrm>
          <a:prstGeom prst="roundRect">
            <a:avLst>
              <a:gd name="adj" fmla="val 6667"/>
            </a:avLst>
          </a:prstGeom>
          <a:solidFill>
            <a:schemeClr val="bg2"/>
          </a:solidFill>
          <a:ln w="12700">
            <a:solidFill>
              <a:schemeClr val="bg2"/>
            </a:solidFill>
            <a:prstDash val="solid"/>
          </a:ln>
        </p:spPr>
      </p:sp>
      <p:sp>
        <p:nvSpPr>
          <p:cNvPr id="9" name="Index justes symbole"/>
          <p:cNvSpPr txBox="1"/>
          <p:nvPr/>
        </p:nvSpPr>
        <p:spPr>
          <a:xfrm>
            <a:off x="594360" y="2514600"/>
            <a:ext cx="731520" cy="731520"/>
          </a:xfrm>
          <a:prstGeom prst="rect">
            <a:avLst/>
          </a:prstGeom>
          <a:noFill/>
          <a:ln/>
        </p:spPr>
        <p:txBody>
          <a:bodyPr wrap="square" lIns="0" tIns="0" rIns="0" bIns="0" rtlCol="0" anchor="ctr"/>
          <a:lstStyle/>
          <a:p>
            <a:pPr indent="0" marL="0">
              <a:buNone/>
            </a:pPr>
            <a:r>
              <a:rPr lang="en-US" sz="3200" b="1" dirty="0">
                <a:solidFill>
                  <a:schemeClr val="accent1"/>
                </a:solidFill>
              </a:rPr>
              <a:t>%</a:t>
            </a:r>
            <a:endParaRPr lang="en-US" sz="3200" dirty="0"/>
          </a:p>
        </p:txBody>
      </p:sp>
      <p:sp>
        <p:nvSpPr>
          <p:cNvPr id="10" name="Index justes titre"/>
          <p:cNvSpPr txBox="1"/>
          <p:nvPr/>
        </p:nvSpPr>
        <p:spPr>
          <a:xfrm>
            <a:off x="1325880" y="2514600"/>
            <a:ext cx="1645920" cy="731520"/>
          </a:xfrm>
          <a:prstGeom prst="rect">
            <a:avLst/>
          </a:prstGeom>
          <a:noFill/>
          <a:ln/>
        </p:spPr>
        <p:txBody>
          <a:bodyPr wrap="square" lIns="0" tIns="0" rIns="0" bIns="0" rtlCol="0" anchor="ctr"/>
          <a:lstStyle/>
          <a:p>
            <a:pPr indent="0" marL="0">
              <a:buNone/>
            </a:pPr>
            <a:r>
              <a:rPr lang="en-US" sz="1600" b="1" dirty="0">
                <a:solidFill>
                  <a:schemeClr val="tx2"/>
                </a:solidFill>
              </a:rPr>
              <a:t>Index justes</a:t>
            </a:r>
            <a:endParaRPr lang="en-US" sz="1600" dirty="0"/>
          </a:p>
        </p:txBody>
      </p:sp>
      <p:sp>
        <p:nvSpPr>
          <p:cNvPr id="11" name="Index justes texte"/>
          <p:cNvSpPr txBox="1"/>
          <p:nvPr/>
        </p:nvSpPr>
        <p:spPr>
          <a:xfrm>
            <a:off x="594360" y="3246120"/>
            <a:ext cx="2377440" cy="457200"/>
          </a:xfrm>
          <a:prstGeom prst="rect">
            <a:avLst/>
          </a:prstGeom>
          <a:noFill/>
          <a:ln/>
        </p:spPr>
        <p:txBody>
          <a:bodyPr wrap="square" lIns="0" tIns="0" rIns="0" bIns="0" rtlCol="0" anchor="t"/>
          <a:lstStyle/>
          <a:p>
            <a:pPr indent="0" marL="0">
              <a:buNone/>
            </a:pPr>
            <a:r>
              <a:rPr lang="en-US" sz="1300" dirty="0">
                <a:solidFill>
                  <a:schemeClr val="tx1"/>
                </a:solidFill>
              </a:rPr>
              <a:t>Le nombre complet est-il correct ?</a:t>
            </a:r>
            <a:endParaRPr lang="en-US" sz="1300" dirty="0"/>
          </a:p>
        </p:txBody>
      </p:sp>
      <p:sp>
        <p:nvSpPr>
          <p:cNvPr id="12" name="Chiffres justes carte"/>
          <p:cNvSpPr/>
          <p:nvPr/>
        </p:nvSpPr>
        <p:spPr>
          <a:xfrm>
            <a:off x="3246120" y="2423160"/>
            <a:ext cx="2606040" cy="1371600"/>
          </a:xfrm>
          <a:prstGeom prst="roundRect">
            <a:avLst>
              <a:gd name="adj" fmla="val 6667"/>
            </a:avLst>
          </a:prstGeom>
          <a:solidFill>
            <a:schemeClr val="bg2"/>
          </a:solidFill>
          <a:ln w="12700">
            <a:solidFill>
              <a:schemeClr val="bg2"/>
            </a:solidFill>
            <a:prstDash val="solid"/>
          </a:ln>
        </p:spPr>
      </p:sp>
      <p:sp>
        <p:nvSpPr>
          <p:cNvPr id="13" name="Chiffres justes symbole"/>
          <p:cNvSpPr txBox="1"/>
          <p:nvPr/>
        </p:nvSpPr>
        <p:spPr>
          <a:xfrm>
            <a:off x="3383280" y="2514600"/>
            <a:ext cx="731520" cy="731520"/>
          </a:xfrm>
          <a:prstGeom prst="rect">
            <a:avLst/>
          </a:prstGeom>
          <a:noFill/>
          <a:ln/>
        </p:spPr>
        <p:txBody>
          <a:bodyPr wrap="square" lIns="0" tIns="0" rIns="0" bIns="0" rtlCol="0" anchor="ctr"/>
          <a:lstStyle/>
          <a:p>
            <a:pPr indent="0" marL="0">
              <a:buNone/>
            </a:pPr>
            <a:r>
              <a:rPr lang="en-US" sz="3200" b="1" dirty="0">
                <a:solidFill>
                  <a:schemeClr val="accent1"/>
                </a:solidFill>
              </a:rPr>
              <a:t>%</a:t>
            </a:r>
            <a:endParaRPr lang="en-US" sz="3200" dirty="0"/>
          </a:p>
        </p:txBody>
      </p:sp>
      <p:sp>
        <p:nvSpPr>
          <p:cNvPr id="14" name="Chiffres justes titre"/>
          <p:cNvSpPr txBox="1"/>
          <p:nvPr/>
        </p:nvSpPr>
        <p:spPr>
          <a:xfrm>
            <a:off x="4114800" y="2514600"/>
            <a:ext cx="1645920" cy="731520"/>
          </a:xfrm>
          <a:prstGeom prst="rect">
            <a:avLst/>
          </a:prstGeom>
          <a:noFill/>
          <a:ln/>
        </p:spPr>
        <p:txBody>
          <a:bodyPr wrap="square" lIns="0" tIns="0" rIns="0" bIns="0" rtlCol="0" anchor="ctr"/>
          <a:lstStyle/>
          <a:p>
            <a:pPr indent="0" marL="0">
              <a:buNone/>
            </a:pPr>
            <a:r>
              <a:rPr lang="en-US" sz="1600" b="1" dirty="0">
                <a:solidFill>
                  <a:schemeClr val="tx2"/>
                </a:solidFill>
              </a:rPr>
              <a:t>Chiffres justes</a:t>
            </a:r>
            <a:endParaRPr lang="en-US" sz="1600" dirty="0"/>
          </a:p>
        </p:txBody>
      </p:sp>
      <p:sp>
        <p:nvSpPr>
          <p:cNvPr id="15" name="Chiffres justes texte"/>
          <p:cNvSpPr txBox="1"/>
          <p:nvPr/>
        </p:nvSpPr>
        <p:spPr>
          <a:xfrm>
            <a:off x="3383280" y="3246120"/>
            <a:ext cx="2377440" cy="457200"/>
          </a:xfrm>
          <a:prstGeom prst="rect">
            <a:avLst/>
          </a:prstGeom>
          <a:noFill/>
          <a:ln/>
        </p:spPr>
        <p:txBody>
          <a:bodyPr wrap="square" lIns="0" tIns="0" rIns="0" bIns="0" rtlCol="0" anchor="t"/>
          <a:lstStyle/>
          <a:p>
            <a:pPr indent="0" marL="0">
              <a:buNone/>
            </a:pPr>
            <a:r>
              <a:rPr lang="en-US" sz="1300" dirty="0">
                <a:solidFill>
                  <a:schemeClr val="tx1"/>
                </a:solidFill>
              </a:rPr>
              <a:t>Rouleau par rouleau</a:t>
            </a:r>
            <a:endParaRPr lang="en-US" sz="1300" dirty="0"/>
          </a:p>
        </p:txBody>
      </p:sp>
      <p:sp>
        <p:nvSpPr>
          <p:cNvPr id="16" name="Erreur moyenne carte"/>
          <p:cNvSpPr/>
          <p:nvPr/>
        </p:nvSpPr>
        <p:spPr>
          <a:xfrm>
            <a:off x="6035040" y="2423160"/>
            <a:ext cx="2606040" cy="1371600"/>
          </a:xfrm>
          <a:prstGeom prst="roundRect">
            <a:avLst>
              <a:gd name="adj" fmla="val 6667"/>
            </a:avLst>
          </a:prstGeom>
          <a:solidFill>
            <a:schemeClr val="bg2"/>
          </a:solidFill>
          <a:ln w="12700">
            <a:solidFill>
              <a:schemeClr val="bg2"/>
            </a:solidFill>
            <a:prstDash val="solid"/>
          </a:ln>
        </p:spPr>
      </p:sp>
      <p:sp>
        <p:nvSpPr>
          <p:cNvPr id="17" name="Erreur moyenne symbole"/>
          <p:cNvSpPr txBox="1"/>
          <p:nvPr/>
        </p:nvSpPr>
        <p:spPr>
          <a:xfrm>
            <a:off x="6172200" y="2514600"/>
            <a:ext cx="731520" cy="731520"/>
          </a:xfrm>
          <a:prstGeom prst="rect">
            <a:avLst/>
          </a:prstGeom>
          <a:noFill/>
          <a:ln/>
        </p:spPr>
        <p:txBody>
          <a:bodyPr wrap="square" lIns="0" tIns="0" rIns="0" bIns="0" rtlCol="0" anchor="ctr"/>
          <a:lstStyle/>
          <a:p>
            <a:pPr indent="0" marL="0">
              <a:buNone/>
            </a:pPr>
            <a:r>
              <a:rPr lang="en-US" sz="3200" b="1" dirty="0">
                <a:solidFill>
                  <a:schemeClr val="accent1"/>
                </a:solidFill>
              </a:rPr>
              <a:t>L</a:t>
            </a:r>
            <a:endParaRPr lang="en-US" sz="3200" dirty="0"/>
          </a:p>
        </p:txBody>
      </p:sp>
      <p:sp>
        <p:nvSpPr>
          <p:cNvPr id="18" name="Erreur moyenne titre"/>
          <p:cNvSpPr txBox="1"/>
          <p:nvPr/>
        </p:nvSpPr>
        <p:spPr>
          <a:xfrm>
            <a:off x="6903720" y="2514600"/>
            <a:ext cx="1645920" cy="731520"/>
          </a:xfrm>
          <a:prstGeom prst="rect">
            <a:avLst/>
          </a:prstGeom>
          <a:noFill/>
          <a:ln/>
        </p:spPr>
        <p:txBody>
          <a:bodyPr wrap="square" lIns="0" tIns="0" rIns="0" bIns="0" rtlCol="0" anchor="ctr"/>
          <a:lstStyle/>
          <a:p>
            <a:pPr indent="0" marL="0">
              <a:buNone/>
            </a:pPr>
            <a:r>
              <a:rPr lang="en-US" sz="1600" b="1" dirty="0">
                <a:solidFill>
                  <a:schemeClr val="tx2"/>
                </a:solidFill>
              </a:rPr>
              <a:t>Erreur moyenne</a:t>
            </a:r>
            <a:endParaRPr lang="en-US" sz="1600" dirty="0"/>
          </a:p>
        </p:txBody>
      </p:sp>
      <p:sp>
        <p:nvSpPr>
          <p:cNvPr id="19" name="Erreur moyenne texte"/>
          <p:cNvSpPr txBox="1"/>
          <p:nvPr/>
        </p:nvSpPr>
        <p:spPr>
          <a:xfrm>
            <a:off x="6172200" y="3246120"/>
            <a:ext cx="2377440" cy="457200"/>
          </a:xfrm>
          <a:prstGeom prst="rect">
            <a:avLst/>
          </a:prstGeom>
          <a:noFill/>
          <a:ln/>
        </p:spPr>
        <p:txBody>
          <a:bodyPr wrap="square" lIns="0" tIns="0" rIns="0" bIns="0" rtlCol="0" anchor="t"/>
          <a:lstStyle/>
          <a:p>
            <a:pPr indent="0" marL="0">
              <a:buNone/>
            </a:pPr>
            <a:r>
              <a:rPr lang="en-US" sz="1300" dirty="0">
                <a:solidFill>
                  <a:schemeClr val="tx1"/>
                </a:solidFill>
              </a:rPr>
              <a:t>Sur la consommation calculée</a:t>
            </a:r>
            <a:endParaRPr lang="en-US" sz="1300" dirty="0"/>
          </a:p>
        </p:txBody>
      </p:sp>
      <p:sp>
        <p:nvSpPr>
          <p:cNvPr id="20" name="Robustesse"/>
          <p:cNvSpPr txBox="1"/>
          <p:nvPr/>
        </p:nvSpPr>
        <p:spPr>
          <a:xfrm>
            <a:off x="457200" y="3977640"/>
            <a:ext cx="8229600" cy="640080"/>
          </a:xfrm>
          <a:prstGeom prst="rect">
            <a:avLst/>
          </a:prstGeom>
          <a:noFill/>
          <a:ln/>
        </p:spPr>
        <p:txBody>
          <a:bodyPr wrap="square" rtlCol="0" anchor="t"/>
          <a:lstStyle/>
          <a:p>
            <a:pPr indent="0" marL="0">
              <a:buNone/>
            </a:pPr>
            <a:r>
              <a:rPr lang="en-US" sz="1400" b="1" dirty="0">
                <a:solidFill>
                  <a:schemeClr val="tx1"/>
                </a:solidFill>
              </a:rPr>
              <a:t>Résultats par condition</a:t>
            </a:r>
            <a:pPr indent="0" marL="0">
              <a:buNone/>
            </a:pPr>
            <a:r>
              <a:rPr lang="en-US" sz="1400" dirty="0">
                <a:solidFill>
                  <a:schemeClr val="tx1"/>
                </a:solidFill>
              </a:rPr>
              <a:t> (lumière normale, faible lumière, reflet, cadrage) et </a:t>
            </a:r>
            <a:pPr indent="0" marL="0">
              <a:buNone/>
            </a:pPr>
            <a:r>
              <a:rPr lang="en-US" sz="1400" b="1" dirty="0">
                <a:solidFill>
                  <a:schemeClr val="tx1"/>
                </a:solidFill>
              </a:rPr>
              <a:t>analyse des erreurs</a:t>
            </a:r>
            <a:pPr indent="0" marL="0">
              <a:buNone/>
            </a:pPr>
            <a:r>
              <a:rPr lang="en-US" sz="1400" dirty="0">
                <a:solidFill>
                  <a:schemeClr val="tx1"/>
                </a:solidFill>
              </a:rPr>
              <a:t> : chiffres confondus, rouleaux entre deux chiffres, reflets.</a:t>
            </a:r>
            <a:endParaRPr lang="en-US" sz="14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3000" b="1" dirty="0">
                <a:solidFill>
                  <a:schemeClr val="tx2"/>
                </a:solidFill>
              </a:rPr>
              <a:t>Prochaines étapes</a:t>
            </a:r>
            <a:endParaRPr lang="en-US" sz="3000" dirty="0"/>
          </a:p>
        </p:txBody>
      </p:sp>
      <p:sp>
        <p:nvSpPr>
          <p:cNvPr id="3" name="Compléter les données numéro fond"/>
          <p:cNvSpPr/>
          <p:nvPr/>
        </p:nvSpPr>
        <p:spPr>
          <a:xfrm>
            <a:off x="457200" y="1143000"/>
            <a:ext cx="457200" cy="457200"/>
          </a:xfrm>
          <a:prstGeom prst="ellipse">
            <a:avLst/>
          </a:prstGeom>
          <a:solidFill>
            <a:srgbClr val="2E86AB"/>
          </a:solidFill>
          <a:ln w="12700">
            <a:solidFill>
              <a:srgbClr val="2E86AB"/>
            </a:solidFill>
            <a:prstDash val="solid"/>
          </a:ln>
        </p:spPr>
      </p:sp>
      <p:sp>
        <p:nvSpPr>
          <p:cNvPr id="4" name="Compléter les données numéro"/>
          <p:cNvSpPr txBox="1"/>
          <p:nvPr/>
        </p:nvSpPr>
        <p:spPr>
          <a:xfrm>
            <a:off x="457200" y="1143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Compléter les données titre"/>
          <p:cNvSpPr txBox="1"/>
          <p:nvPr/>
        </p:nvSpPr>
        <p:spPr>
          <a:xfrm>
            <a:off x="1097280" y="1115568"/>
            <a:ext cx="5120640" cy="274320"/>
          </a:xfrm>
          <a:prstGeom prst="rect">
            <a:avLst/>
          </a:prstGeom>
          <a:noFill/>
          <a:ln/>
        </p:spPr>
        <p:txBody>
          <a:bodyPr wrap="square" lIns="0" tIns="0" rIns="0" bIns="0" rtlCol="0" anchor="ctr"/>
          <a:lstStyle/>
          <a:p>
            <a:pPr indent="0" marL="0">
              <a:buNone/>
            </a:pPr>
            <a:r>
              <a:rPr lang="en-US" sz="1500" b="1" dirty="0">
                <a:solidFill>
                  <a:schemeClr val="tx2"/>
                </a:solidFill>
              </a:rPr>
              <a:t>Compléter les données</a:t>
            </a:r>
            <a:endParaRPr lang="en-US" sz="1500" dirty="0"/>
          </a:p>
        </p:txBody>
      </p:sp>
      <p:sp>
        <p:nvSpPr>
          <p:cNvPr id="6" name="Compléter les données détail"/>
          <p:cNvSpPr txBox="1"/>
          <p:nvPr/>
        </p:nvSpPr>
        <p:spPr>
          <a:xfrm>
            <a:off x="1097280" y="1380744"/>
            <a:ext cx="5120640" cy="274320"/>
          </a:xfrm>
          <a:prstGeom prst="rect">
            <a:avLst/>
          </a:prstGeom>
          <a:noFill/>
          <a:ln/>
        </p:spPr>
        <p:txBody>
          <a:bodyPr wrap="square" lIns="0" tIns="0" rIns="0" bIns="0" rtlCol="0" anchor="ctr"/>
          <a:lstStyle/>
          <a:p>
            <a:pPr indent="0" marL="0">
              <a:buNone/>
            </a:pPr>
            <a:r>
              <a:rPr lang="en-US" sz="1200" dirty="0">
                <a:solidFill>
                  <a:schemeClr val="accent3"/>
                </a:solidFill>
              </a:rPr>
              <a:t>Plus de photos, de jour et de nuit, avec et sans reflet ; noter le vrai index</a:t>
            </a:r>
            <a:endParaRPr lang="en-US" sz="1200" dirty="0"/>
          </a:p>
        </p:txBody>
      </p:sp>
      <p:sp>
        <p:nvSpPr>
          <p:cNvPr id="7" name="Prétraiter les images numéro fond"/>
          <p:cNvSpPr/>
          <p:nvPr/>
        </p:nvSpPr>
        <p:spPr>
          <a:xfrm>
            <a:off x="457200" y="1801368"/>
            <a:ext cx="457200" cy="457200"/>
          </a:xfrm>
          <a:prstGeom prst="ellipse">
            <a:avLst/>
          </a:prstGeom>
          <a:solidFill>
            <a:srgbClr val="2E86AB"/>
          </a:solidFill>
          <a:ln w="12700">
            <a:solidFill>
              <a:srgbClr val="2E86AB"/>
            </a:solidFill>
            <a:prstDash val="solid"/>
          </a:ln>
        </p:spPr>
      </p:sp>
      <p:sp>
        <p:nvSpPr>
          <p:cNvPr id="8" name="Prétraiter les images numéro"/>
          <p:cNvSpPr txBox="1"/>
          <p:nvPr/>
        </p:nvSpPr>
        <p:spPr>
          <a:xfrm>
            <a:off x="457200" y="1801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Prétraiter les images titre"/>
          <p:cNvSpPr txBox="1"/>
          <p:nvPr/>
        </p:nvSpPr>
        <p:spPr>
          <a:xfrm>
            <a:off x="1097280" y="1773936"/>
            <a:ext cx="5120640" cy="274320"/>
          </a:xfrm>
          <a:prstGeom prst="rect">
            <a:avLst/>
          </a:prstGeom>
          <a:noFill/>
          <a:ln/>
        </p:spPr>
        <p:txBody>
          <a:bodyPr wrap="square" lIns="0" tIns="0" rIns="0" bIns="0" rtlCol="0" anchor="ctr"/>
          <a:lstStyle/>
          <a:p>
            <a:pPr indent="0" marL="0">
              <a:buNone/>
            </a:pPr>
            <a:r>
              <a:rPr lang="en-US" sz="1500" b="1" dirty="0">
                <a:solidFill>
                  <a:schemeClr val="tx2"/>
                </a:solidFill>
              </a:rPr>
              <a:t>Prétraiter les images</a:t>
            </a:r>
            <a:endParaRPr lang="en-US" sz="1500" dirty="0"/>
          </a:p>
        </p:txBody>
      </p:sp>
      <p:sp>
        <p:nvSpPr>
          <p:cNvPr id="10" name="Prétraiter les images détail"/>
          <p:cNvSpPr txBox="1"/>
          <p:nvPr/>
        </p:nvSpPr>
        <p:spPr>
          <a:xfrm>
            <a:off x="1097280" y="2039112"/>
            <a:ext cx="5120640" cy="274320"/>
          </a:xfrm>
          <a:prstGeom prst="rect">
            <a:avLst/>
          </a:prstGeom>
          <a:noFill/>
          <a:ln/>
        </p:spPr>
        <p:txBody>
          <a:bodyPr wrap="square" lIns="0" tIns="0" rIns="0" bIns="0" rtlCol="0" anchor="ctr"/>
          <a:lstStyle/>
          <a:p>
            <a:pPr indent="0" marL="0">
              <a:buNone/>
            </a:pPr>
            <a:r>
              <a:rPr lang="en-US" sz="1200" dirty="0">
                <a:solidFill>
                  <a:schemeClr val="accent3"/>
                </a:solidFill>
              </a:rPr>
              <a:t>Recadrer sur les rouleaux, niveaux de gris, seuillage (OpenCV)</a:t>
            </a:r>
            <a:endParaRPr lang="en-US" sz="1200" dirty="0"/>
          </a:p>
        </p:txBody>
      </p:sp>
      <p:sp>
        <p:nvSpPr>
          <p:cNvPr id="11" name="Reconnaître les chiffres numéro fond"/>
          <p:cNvSpPr/>
          <p:nvPr/>
        </p:nvSpPr>
        <p:spPr>
          <a:xfrm>
            <a:off x="457200" y="2459736"/>
            <a:ext cx="457200" cy="457200"/>
          </a:xfrm>
          <a:prstGeom prst="ellipse">
            <a:avLst/>
          </a:prstGeom>
          <a:solidFill>
            <a:srgbClr val="2E86AB"/>
          </a:solidFill>
          <a:ln w="12700">
            <a:solidFill>
              <a:srgbClr val="2E86AB"/>
            </a:solidFill>
            <a:prstDash val="solid"/>
          </a:ln>
        </p:spPr>
      </p:sp>
      <p:sp>
        <p:nvSpPr>
          <p:cNvPr id="12" name="Reconnaître les chiffres numéro"/>
          <p:cNvSpPr txBox="1"/>
          <p:nvPr/>
        </p:nvSpPr>
        <p:spPr>
          <a:xfrm>
            <a:off x="457200" y="24597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3" name="Reconnaître les chiffres titre"/>
          <p:cNvSpPr txBox="1"/>
          <p:nvPr/>
        </p:nvSpPr>
        <p:spPr>
          <a:xfrm>
            <a:off x="1097280" y="2432304"/>
            <a:ext cx="5120640" cy="274320"/>
          </a:xfrm>
          <a:prstGeom prst="rect">
            <a:avLst/>
          </a:prstGeom>
          <a:noFill/>
          <a:ln/>
        </p:spPr>
        <p:txBody>
          <a:bodyPr wrap="square" lIns="0" tIns="0" rIns="0" bIns="0" rtlCol="0" anchor="ctr"/>
          <a:lstStyle/>
          <a:p>
            <a:pPr indent="0" marL="0">
              <a:buNone/>
            </a:pPr>
            <a:r>
              <a:rPr lang="en-US" sz="1500" b="1" dirty="0">
                <a:solidFill>
                  <a:schemeClr val="tx2"/>
                </a:solidFill>
              </a:rPr>
              <a:t>Reconnaître les chiffres</a:t>
            </a:r>
            <a:endParaRPr lang="en-US" sz="1500" dirty="0"/>
          </a:p>
        </p:txBody>
      </p:sp>
      <p:sp>
        <p:nvSpPr>
          <p:cNvPr id="14" name="Reconnaître les chiffres détail"/>
          <p:cNvSpPr txBox="1"/>
          <p:nvPr/>
        </p:nvSpPr>
        <p:spPr>
          <a:xfrm>
            <a:off x="1097280" y="2697480"/>
            <a:ext cx="5120640" cy="274320"/>
          </a:xfrm>
          <a:prstGeom prst="rect">
            <a:avLst/>
          </a:prstGeom>
          <a:noFill/>
          <a:ln/>
        </p:spPr>
        <p:txBody>
          <a:bodyPr wrap="square" lIns="0" tIns="0" rIns="0" bIns="0" rtlCol="0" anchor="ctr"/>
          <a:lstStyle/>
          <a:p>
            <a:pPr indent="0" marL="0">
              <a:buNone/>
            </a:pPr>
            <a:r>
              <a:rPr lang="en-US" sz="1200" dirty="0">
                <a:solidFill>
                  <a:schemeClr val="accent3"/>
                </a:solidFill>
              </a:rPr>
              <a:t>Découper chaque rouleau, le comparer à des modèles, gérer les transitions</a:t>
            </a:r>
            <a:endParaRPr lang="en-US" sz="1200" dirty="0"/>
          </a:p>
        </p:txBody>
      </p:sp>
      <p:sp>
        <p:nvSpPr>
          <p:cNvPr id="15" name="Stocker et afficher numéro fond"/>
          <p:cNvSpPr/>
          <p:nvPr/>
        </p:nvSpPr>
        <p:spPr>
          <a:xfrm>
            <a:off x="457200" y="3118104"/>
            <a:ext cx="457200" cy="457200"/>
          </a:xfrm>
          <a:prstGeom prst="ellipse">
            <a:avLst/>
          </a:prstGeom>
          <a:solidFill>
            <a:srgbClr val="2E86AB"/>
          </a:solidFill>
          <a:ln w="12700">
            <a:solidFill>
              <a:srgbClr val="2E86AB"/>
            </a:solidFill>
            <a:prstDash val="solid"/>
          </a:ln>
        </p:spPr>
      </p:sp>
      <p:sp>
        <p:nvSpPr>
          <p:cNvPr id="16" name="Stocker et afficher numéro"/>
          <p:cNvSpPr txBox="1"/>
          <p:nvPr/>
        </p:nvSpPr>
        <p:spPr>
          <a:xfrm>
            <a:off x="457200" y="31181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7" name="Stocker et afficher titre"/>
          <p:cNvSpPr txBox="1"/>
          <p:nvPr/>
        </p:nvSpPr>
        <p:spPr>
          <a:xfrm>
            <a:off x="1097280" y="3090672"/>
            <a:ext cx="5120640" cy="274320"/>
          </a:xfrm>
          <a:prstGeom prst="rect">
            <a:avLst/>
          </a:prstGeom>
          <a:noFill/>
          <a:ln/>
        </p:spPr>
        <p:txBody>
          <a:bodyPr wrap="square" lIns="0" tIns="0" rIns="0" bIns="0" rtlCol="0" anchor="ctr"/>
          <a:lstStyle/>
          <a:p>
            <a:pPr indent="0" marL="0">
              <a:buNone/>
            </a:pPr>
            <a:r>
              <a:rPr lang="en-US" sz="1500" b="1" dirty="0">
                <a:solidFill>
                  <a:schemeClr val="tx2"/>
                </a:solidFill>
              </a:rPr>
              <a:t>Stocker et afficher</a:t>
            </a:r>
            <a:endParaRPr lang="en-US" sz="1500" dirty="0"/>
          </a:p>
        </p:txBody>
      </p:sp>
      <p:sp>
        <p:nvSpPr>
          <p:cNvPr id="18" name="Stocker et afficher détail"/>
          <p:cNvSpPr txBox="1"/>
          <p:nvPr/>
        </p:nvSpPr>
        <p:spPr>
          <a:xfrm>
            <a:off x="1097280" y="3355848"/>
            <a:ext cx="5120640" cy="274320"/>
          </a:xfrm>
          <a:prstGeom prst="rect">
            <a:avLst/>
          </a:prstGeom>
          <a:noFill/>
          <a:ln/>
        </p:spPr>
        <p:txBody>
          <a:bodyPr wrap="square" lIns="0" tIns="0" rIns="0" bIns="0" rtlCol="0" anchor="ctr"/>
          <a:lstStyle/>
          <a:p>
            <a:pPr indent="0" marL="0">
              <a:buNone/>
            </a:pPr>
            <a:r>
              <a:rPr lang="en-US" sz="1200" dirty="0">
                <a:solidFill>
                  <a:schemeClr val="accent3"/>
                </a:solidFill>
              </a:rPr>
              <a:t>Supabase, calcul de la consommation, site Flask (moyenne, minimum, pic)</a:t>
            </a:r>
            <a:endParaRPr lang="en-US" sz="1200" dirty="0"/>
          </a:p>
        </p:txBody>
      </p:sp>
      <p:sp>
        <p:nvSpPr>
          <p:cNvPr id="19" name="Valider numéro fond"/>
          <p:cNvSpPr/>
          <p:nvPr/>
        </p:nvSpPr>
        <p:spPr>
          <a:xfrm>
            <a:off x="457200" y="3776472"/>
            <a:ext cx="457200" cy="457200"/>
          </a:xfrm>
          <a:prstGeom prst="ellipse">
            <a:avLst/>
          </a:prstGeom>
          <a:solidFill>
            <a:srgbClr val="2E86AB"/>
          </a:solidFill>
          <a:ln w="12700">
            <a:solidFill>
              <a:srgbClr val="2E86AB"/>
            </a:solidFill>
            <a:prstDash val="solid"/>
          </a:ln>
        </p:spPr>
      </p:sp>
      <p:sp>
        <p:nvSpPr>
          <p:cNvPr id="20" name="Valider numéro"/>
          <p:cNvSpPr txBox="1"/>
          <p:nvPr/>
        </p:nvSpPr>
        <p:spPr>
          <a:xfrm>
            <a:off x="457200" y="37764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1" name="Valider titre"/>
          <p:cNvSpPr txBox="1"/>
          <p:nvPr/>
        </p:nvSpPr>
        <p:spPr>
          <a:xfrm>
            <a:off x="1097280" y="3749040"/>
            <a:ext cx="5120640" cy="274320"/>
          </a:xfrm>
          <a:prstGeom prst="rect">
            <a:avLst/>
          </a:prstGeom>
          <a:noFill/>
          <a:ln/>
        </p:spPr>
        <p:txBody>
          <a:bodyPr wrap="square" lIns="0" tIns="0" rIns="0" bIns="0" rtlCol="0" anchor="ctr"/>
          <a:lstStyle/>
          <a:p>
            <a:pPr indent="0" marL="0">
              <a:buNone/>
            </a:pPr>
            <a:r>
              <a:rPr lang="en-US" sz="1500" b="1" dirty="0">
                <a:solidFill>
                  <a:schemeClr val="tx2"/>
                </a:solidFill>
              </a:rPr>
              <a:t>Valider</a:t>
            </a:r>
            <a:endParaRPr lang="en-US" sz="1500" dirty="0"/>
          </a:p>
        </p:txBody>
      </p:sp>
      <p:sp>
        <p:nvSpPr>
          <p:cNvPr id="22" name="Valider détail"/>
          <p:cNvSpPr txBox="1"/>
          <p:nvPr/>
        </p:nvSpPr>
        <p:spPr>
          <a:xfrm>
            <a:off x="1097280" y="4014216"/>
            <a:ext cx="5120640" cy="274320"/>
          </a:xfrm>
          <a:prstGeom prst="rect">
            <a:avLst/>
          </a:prstGeom>
          <a:noFill/>
          <a:ln/>
        </p:spPr>
        <p:txBody>
          <a:bodyPr wrap="square" lIns="0" tIns="0" rIns="0" bIns="0" rtlCol="0" anchor="ctr"/>
          <a:lstStyle/>
          <a:p>
            <a:pPr indent="0" marL="0">
              <a:buNone/>
            </a:pPr>
            <a:r>
              <a:rPr lang="en-US" sz="1200" dirty="0">
                <a:solidFill>
                  <a:schemeClr val="accent3"/>
                </a:solidFill>
              </a:rPr>
              <a:t>Mesures sur les photos de test, résultats par condition</a:t>
            </a:r>
            <a:endParaRPr lang="en-US" sz="1200" dirty="0"/>
          </a:p>
        </p:txBody>
      </p:sp>
      <p:sp>
        <p:nvSpPr>
          <p:cNvPr id="23" name="Bonus carte"/>
          <p:cNvSpPr/>
          <p:nvPr/>
        </p:nvSpPr>
        <p:spPr>
          <a:xfrm>
            <a:off x="6492240" y="1143000"/>
            <a:ext cx="2194560" cy="1600200"/>
          </a:xfrm>
          <a:prstGeom prst="roundRect">
            <a:avLst>
              <a:gd name="adj" fmla="val 6857"/>
            </a:avLst>
          </a:prstGeom>
          <a:solidFill>
            <a:schemeClr val="bg2"/>
          </a:solidFill>
          <a:ln w="15875">
            <a:solidFill>
              <a:srgbClr val="E09F3E"/>
            </a:solidFill>
            <a:prstDash val="dash"/>
          </a:ln>
        </p:spPr>
      </p:sp>
      <p:sp>
        <p:nvSpPr>
          <p:cNvPr id="24" name="Bonus texte"/>
          <p:cNvSpPr txBox="1"/>
          <p:nvPr/>
        </p:nvSpPr>
        <p:spPr>
          <a:xfrm>
            <a:off x="6629400" y="1261872"/>
            <a:ext cx="1920240" cy="1417320"/>
          </a:xfrm>
          <a:prstGeom prst="rect">
            <a:avLst/>
          </a:prstGeom>
          <a:noFill/>
          <a:ln/>
        </p:spPr>
        <p:txBody>
          <a:bodyPr wrap="square" lIns="0" tIns="0" rIns="0" bIns="0" rtlCol="0" anchor="t"/>
          <a:lstStyle/>
          <a:p>
            <a:pPr indent="0" marL="0">
              <a:buNone/>
            </a:pPr>
            <a:r>
              <a:rPr lang="en-US" sz="1300" b="1" dirty="0">
                <a:solidFill>
                  <a:srgbClr val="E09F3E"/>
                </a:solidFill>
              </a:rPr>
              <a:t>Bonus</a:t>
            </a:r>
            <a:endParaRPr lang="en-US" sz="1300" dirty="0"/>
          </a:p>
          <a:p>
            <a:pPr indent="0" marL="0">
              <a:buNone/>
            </a:pPr>
            <a:r>
              <a:rPr lang="en-US" sz="1300" dirty="0">
                <a:solidFill>
                  <a:srgbClr val="1B2430"/>
                </a:solidFill>
              </a:rPr>
              <a:t>Raspberry Pi Pico W + caméra Arducam pour remplacer la webcam et envoyer les photos au site automatiquement.</a:t>
            </a:r>
            <a:endParaRPr lang="en-US" sz="1300" dirty="0"/>
          </a:p>
        </p:txBody>
      </p:sp>
      <p:sp>
        <p:nvSpPr>
          <p:cNvPr id="25" name="Slide Number Placeholder 0"/>
          <p:cNvSpPr>
            <a:spLocks noGrp="1"/>
          </p:cNvSpPr>
          <p:nvPr>
            <p:ph type="sldNum" sz="quarter" idx="4294967295"/>
          </p:nvPr>
        </p:nvSpPr>
        <p:spPr>
          <a:xfrm>
            <a:off x="850392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Signaux">
  <a:themeElements>
    <a:clrScheme name="Signaux">
      <a:dk1>
        <a:srgbClr val="1B2430"/>
      </a:dk1>
      <a:lt1>
        <a:srgbClr val="FFFFFF"/>
      </a:lt1>
      <a:dk2>
        <a:srgbClr val="1F3B57"/>
      </a:dk2>
      <a:lt2>
        <a:srgbClr val="F2F6F9"/>
      </a:lt2>
      <a:accent1>
        <a:srgbClr val="2E86AB"/>
      </a:accent1>
      <a:accent2>
        <a:srgbClr val="1F7A8C"/>
      </a:accent2>
      <a:accent3>
        <a:srgbClr val="5B6878"/>
      </a:accent3>
      <a:accent4>
        <a:srgbClr val="C0392B"/>
      </a:accent4>
      <a:accent5>
        <a:srgbClr val="3C8D5A"/>
      </a:accent5>
      <a:accent6>
        <a:srgbClr val="E09F3E"/>
      </a:accent6>
      <a:hlink>
        <a:srgbClr val="2E86AB"/>
      </a:hlink>
      <a:folHlink>
        <a:srgbClr val="5B6878"/>
      </a:folHlink>
    </a:clrScheme>
    <a:fontScheme name="Signau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État des lieux — suivi de consommation d'eau</dc:title>
  <dc:subject>PptxGenJS Presentation</dc:subject>
  <dc:creator>PptxGenJS</dc:creator>
  <cp:lastModifiedBy>PptxGenJS</cp:lastModifiedBy>
  <cp:revision>1</cp:revision>
  <dcterms:created xsi:type="dcterms:W3CDTF">2026-10-21T19:24:36Z</dcterms:created>
  <dcterms:modified xsi:type="dcterms:W3CDTF">2026-10-21T19:24:36Z</dcterms:modified>
</cp:coreProperties>
</file>